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8" autoAdjust="0"/>
    <p:restoredTop sz="93580" autoAdjust="0"/>
  </p:normalViewPr>
  <p:slideViewPr>
    <p:cSldViewPr snapToGrid="0" snapToObjects="1">
      <p:cViewPr varScale="1">
        <p:scale>
          <a:sx n="64" d="100"/>
          <a:sy n="64" d="100"/>
        </p:scale>
        <p:origin x="95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CD868F-2AA0-4E34-92F1-810420F25AC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C6A737-2DBA-4410-AE21-2FF01CF84D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6787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Good morning everyone.</a:t>
            </a:r>
          </a:p>
          <a:p>
            <a:r>
              <a:rPr lang="en-IN" dirty="0"/>
              <a:t>Today I am going to talk about a simple but interesting physics topic — </a:t>
            </a:r>
            <a:r>
              <a:rPr lang="en-IN" b="1" dirty="0"/>
              <a:t>the pendulum</a:t>
            </a:r>
            <a:r>
              <a:rPr lang="en-IN" dirty="0"/>
              <a:t>.</a:t>
            </a:r>
          </a:p>
          <a:p>
            <a:r>
              <a:rPr lang="en-IN" dirty="0"/>
              <a:t>We see pendulum-like motion in things such as clocks, swings, and metronomes.</a:t>
            </a:r>
          </a:p>
          <a:p>
            <a:r>
              <a:rPr lang="en-IN" dirty="0"/>
              <a:t>In this presentation, I will explain what a pendulum is, why it swings, how gravity and energy are involved, and finally, I will show you a small pendulum simulation.</a:t>
            </a:r>
          </a:p>
          <a:p>
            <a:br>
              <a:rPr lang="en-IN" dirty="0"/>
            </a:b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1020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So, first of all, what exactly is a pendulum?</a:t>
            </a:r>
          </a:p>
          <a:p>
            <a:r>
              <a:rPr lang="en-IN" dirty="0"/>
              <a:t>A pendulum is an object that has a </a:t>
            </a:r>
            <a:r>
              <a:rPr lang="en-IN" b="1" dirty="0"/>
              <a:t>weight, called a bob, attached to a fixed point</a:t>
            </a:r>
            <a:r>
              <a:rPr lang="en-IN" dirty="0"/>
              <a:t> using a string or rod.</a:t>
            </a:r>
          </a:p>
          <a:p>
            <a:r>
              <a:rPr lang="en-IN" dirty="0"/>
              <a:t>The fixed point is called the </a:t>
            </a:r>
            <a:r>
              <a:rPr lang="en-IN" b="1" dirty="0"/>
              <a:t>pivot</a:t>
            </a:r>
            <a:r>
              <a:rPr lang="en-IN" dirty="0"/>
              <a:t>.</a:t>
            </a:r>
          </a:p>
          <a:p>
            <a:r>
              <a:rPr lang="en-IN" dirty="0"/>
              <a:t>When we move the bob to one side and release it, it moves back and forth.</a:t>
            </a:r>
          </a:p>
          <a:p>
            <a:r>
              <a:rPr lang="en-IN" dirty="0"/>
              <a:t>This repeating movement is called </a:t>
            </a:r>
            <a:r>
              <a:rPr lang="en-IN" b="1" dirty="0"/>
              <a:t>oscillation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717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Now the interesting part — why does the pendulum actually swing?</a:t>
            </a:r>
          </a:p>
          <a:p>
            <a:r>
              <a:rPr lang="en-IN" dirty="0"/>
              <a:t>The main reason is </a:t>
            </a:r>
            <a:r>
              <a:rPr lang="en-IN" b="1" dirty="0"/>
              <a:t>gravity</a:t>
            </a:r>
            <a:r>
              <a:rPr lang="en-IN" dirty="0"/>
              <a:t>.</a:t>
            </a:r>
          </a:p>
          <a:p>
            <a:r>
              <a:rPr lang="en-IN" dirty="0"/>
              <a:t>When we pull the bob to one side, it gains gravitational potential energy.</a:t>
            </a:r>
          </a:p>
          <a:p>
            <a:r>
              <a:rPr lang="en-IN" dirty="0"/>
              <a:t>When we release it, gravity pulls the bob toward its lowest position.</a:t>
            </a:r>
          </a:p>
          <a:p>
            <a:r>
              <a:rPr lang="en-IN" dirty="0"/>
              <a:t>As it moves downward, it becomes faster.</a:t>
            </a:r>
          </a:p>
          <a:p>
            <a:r>
              <a:rPr lang="en-IN" dirty="0"/>
              <a:t>At the bottom, its speed is greatest.</a:t>
            </a:r>
          </a:p>
          <a:p>
            <a:r>
              <a:rPr lang="en-IN" dirty="0"/>
              <a:t>Then it moves up the other side, slows down, and comes back again.</a:t>
            </a:r>
          </a:p>
          <a:p>
            <a:r>
              <a:rPr lang="en-IN" dirty="0"/>
              <a:t>And this process repeats.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1359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One complete movement from one side, to the other side, and back to the starting side is called </a:t>
            </a:r>
            <a:r>
              <a:rPr lang="en-IN" b="1" dirty="0"/>
              <a:t>one complete oscillation</a:t>
            </a:r>
            <a:r>
              <a:rPr lang="en-IN" dirty="0"/>
              <a:t> or one cycle.</a:t>
            </a:r>
          </a:p>
          <a:p>
            <a:r>
              <a:rPr lang="en-IN" dirty="0"/>
              <a:t>For example, if the bob starts on the left, moves to the right, and then returns to the left, that is one complete cycle.</a:t>
            </a:r>
          </a:p>
          <a:p>
            <a:r>
              <a:rPr lang="en-IN" dirty="0"/>
              <a:t>This is important because we use one complete cycle to measure the </a:t>
            </a:r>
            <a:r>
              <a:rPr lang="en-IN" b="1" dirty="0"/>
              <a:t>time period</a:t>
            </a:r>
            <a:r>
              <a:rPr lang="en-IN" dirty="0"/>
              <a:t>.</a:t>
            </a:r>
          </a:p>
          <a:p>
            <a:br>
              <a:rPr lang="en-IN" dirty="0"/>
            </a:b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12095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The </a:t>
            </a:r>
            <a:r>
              <a:rPr lang="en-IN" b="1" dirty="0"/>
              <a:t>time period</a:t>
            </a:r>
            <a:r>
              <a:rPr lang="en-IN" dirty="0"/>
              <a:t> is the amount of time needed for one complete oscillation.</a:t>
            </a:r>
          </a:p>
          <a:p>
            <a:r>
              <a:rPr lang="en-IN" dirty="0"/>
              <a:t>One important thing we can observe is that the </a:t>
            </a:r>
            <a:r>
              <a:rPr lang="en-IN" b="1" dirty="0"/>
              <a:t>length of the pendulum affects its time period</a:t>
            </a:r>
            <a:r>
              <a:rPr lang="en-IN" dirty="0"/>
              <a:t>.</a:t>
            </a:r>
          </a:p>
          <a:p>
            <a:r>
              <a:rPr lang="en-IN" dirty="0"/>
              <a:t>A longer pendulum takes more time to complete one cycle.</a:t>
            </a:r>
          </a:p>
          <a:p>
            <a:r>
              <a:rPr lang="en-IN" dirty="0"/>
              <a:t>A shorter pendulum completes the cycle faster.</a:t>
            </a:r>
          </a:p>
          <a:p>
            <a:r>
              <a:rPr lang="en-IN" dirty="0"/>
              <a:t>So, in simple words:</a:t>
            </a:r>
          </a:p>
          <a:p>
            <a:r>
              <a:rPr lang="en-IN" b="1" dirty="0"/>
              <a:t>Longer pendulum means longer time period.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49761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There is also a change in energy while the pendulum moves.</a:t>
            </a:r>
          </a:p>
          <a:p>
            <a:r>
              <a:rPr lang="en-IN" dirty="0"/>
              <a:t>When the bob is at the side, it has more </a:t>
            </a:r>
            <a:r>
              <a:rPr lang="en-IN" b="1" dirty="0"/>
              <a:t>gravitational potential energy</a:t>
            </a:r>
            <a:r>
              <a:rPr lang="en-IN" dirty="0"/>
              <a:t> and very little speed.</a:t>
            </a:r>
          </a:p>
          <a:p>
            <a:r>
              <a:rPr lang="en-IN" dirty="0"/>
              <a:t>As it moves downward, that energy changes into </a:t>
            </a:r>
            <a:r>
              <a:rPr lang="en-IN" b="1" dirty="0"/>
              <a:t>kinetic energy</a:t>
            </a:r>
            <a:r>
              <a:rPr lang="en-IN" dirty="0"/>
              <a:t>.</a:t>
            </a:r>
          </a:p>
          <a:p>
            <a:r>
              <a:rPr lang="en-IN" dirty="0"/>
              <a:t>At the bottom, the bob has its greatest speed.</a:t>
            </a:r>
          </a:p>
          <a:p>
            <a:r>
              <a:rPr lang="en-IN" dirty="0"/>
              <a:t>In a real pendulum, friction and air resistance slowly remove energy, so eventually the pendulum stops.</a:t>
            </a:r>
          </a:p>
          <a:p>
            <a:br>
              <a:rPr lang="en-IN" dirty="0"/>
            </a:b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9141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There are a few things we can consider when studying a pendulum.</a:t>
            </a:r>
          </a:p>
          <a:p>
            <a:r>
              <a:rPr lang="en-IN" dirty="0"/>
              <a:t>The </a:t>
            </a:r>
            <a:r>
              <a:rPr lang="en-IN" b="1" dirty="0"/>
              <a:t>length</a:t>
            </a:r>
            <a:r>
              <a:rPr lang="en-IN" dirty="0"/>
              <a:t> affects the time period.</a:t>
            </a:r>
          </a:p>
          <a:p>
            <a:r>
              <a:rPr lang="en-IN" dirty="0"/>
              <a:t>Gravity also affects the time period.</a:t>
            </a:r>
          </a:p>
          <a:p>
            <a:r>
              <a:rPr lang="en-IN" dirty="0"/>
              <a:t>But for an ideal simple pendulum, changing the </a:t>
            </a:r>
            <a:r>
              <a:rPr lang="en-IN" b="1" dirty="0"/>
              <a:t>mass of the bob does not change the time period</a:t>
            </a:r>
            <a:r>
              <a:rPr lang="en-IN" dirty="0"/>
              <a:t>.</a:t>
            </a:r>
          </a:p>
          <a:p>
            <a:r>
              <a:rPr lang="en-IN" dirty="0"/>
              <a:t>So if we use a heavier bob with the same length, the ideal pendulum still has the same period.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3663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Pendulums are not only used in science experiments.</a:t>
            </a:r>
          </a:p>
          <a:p>
            <a:r>
              <a:rPr lang="en-IN" dirty="0"/>
              <a:t>We can see similar motion in </a:t>
            </a:r>
            <a:r>
              <a:rPr lang="en-IN" b="1" dirty="0"/>
              <a:t>pendulum clocks</a:t>
            </a:r>
            <a:r>
              <a:rPr lang="en-IN" dirty="0"/>
              <a:t>.</a:t>
            </a:r>
          </a:p>
          <a:p>
            <a:r>
              <a:rPr lang="en-IN" dirty="0"/>
              <a:t>Musicians use </a:t>
            </a:r>
            <a:r>
              <a:rPr lang="en-IN" b="1" dirty="0"/>
              <a:t>metronomes</a:t>
            </a:r>
            <a:r>
              <a:rPr lang="en-IN" dirty="0"/>
              <a:t> to keep a steady beat.</a:t>
            </a:r>
          </a:p>
          <a:p>
            <a:r>
              <a:rPr lang="en-IN" dirty="0"/>
              <a:t>A playground </a:t>
            </a:r>
            <a:r>
              <a:rPr lang="en-IN" b="1" dirty="0"/>
              <a:t>swing</a:t>
            </a:r>
            <a:r>
              <a:rPr lang="en-IN" dirty="0"/>
              <a:t> is also a familiar example of back-and-forth motion.</a:t>
            </a:r>
          </a:p>
          <a:p>
            <a:r>
              <a:rPr lang="en-IN" dirty="0"/>
              <a:t>Scientists can also use pendulums in experiments to study motion and gravity.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07594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Now comes the fun part.</a:t>
            </a:r>
          </a:p>
          <a:p>
            <a:r>
              <a:rPr lang="en-IN" dirty="0"/>
              <a:t>I made a small </a:t>
            </a:r>
            <a:r>
              <a:rPr lang="en-IN" b="1" dirty="0"/>
              <a:t>Pendulum Simulator 3000</a:t>
            </a:r>
            <a:r>
              <a:rPr lang="en-IN" dirty="0"/>
              <a:t> to demonstrate what we just learned.</a:t>
            </a:r>
          </a:p>
          <a:p>
            <a:r>
              <a:rPr lang="en-IN" dirty="0"/>
              <a:t>First, I can drag the yellow bob to one side.</a:t>
            </a:r>
          </a:p>
          <a:p>
            <a:r>
              <a:rPr lang="en-IN" dirty="0"/>
              <a:t>Then I release it.</a:t>
            </a:r>
          </a:p>
          <a:p>
            <a:r>
              <a:rPr lang="en-IN" dirty="0"/>
              <a:t>Gravity takes over and the pendulum starts swinging.</a:t>
            </a:r>
          </a:p>
          <a:p>
            <a:r>
              <a:rPr lang="en-IN" dirty="0"/>
              <a:t>There is also a fading dotted trail so we can see the path of the bob.</a:t>
            </a:r>
          </a:p>
          <a:p>
            <a:r>
              <a:rPr lang="en-IN" dirty="0"/>
              <a:t>I can also change the length and see how the time period changes.</a:t>
            </a:r>
          </a:p>
          <a:p>
            <a:r>
              <a:rPr lang="en-IN" b="1" dirty="0"/>
              <a:t>⭐ If demonstrating the speed feature:</a:t>
            </a:r>
          </a:p>
          <a:p>
            <a:r>
              <a:rPr lang="en-IN" dirty="0"/>
              <a:t>There is one more feature.</a:t>
            </a:r>
          </a:p>
          <a:p>
            <a:r>
              <a:rPr lang="en-IN" dirty="0"/>
              <a:t>If I move the bob slowly before releasing it, it gets a smaller initial speed.</a:t>
            </a:r>
          </a:p>
          <a:p>
            <a:r>
              <a:rPr lang="en-IN" dirty="0"/>
              <a:t>If I move it quickly while releasing it, I can give it a larger initial speed.</a:t>
            </a:r>
          </a:p>
          <a:p>
            <a:r>
              <a:rPr lang="en-IN" dirty="0"/>
              <a:t>So the simulator also demonstrates the idea of </a:t>
            </a:r>
            <a:r>
              <a:rPr lang="en-IN" b="1" dirty="0"/>
              <a:t>initial velocity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6213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So, to conclude, a pendulum may look like a very simple object, but it helps us understand some important ideas in physics.</a:t>
            </a:r>
          </a:p>
          <a:p>
            <a:r>
              <a:rPr lang="en-IN" dirty="0"/>
              <a:t>It shows us how </a:t>
            </a:r>
            <a:r>
              <a:rPr lang="en-IN" b="1" dirty="0"/>
              <a:t>gravity, motion, energy, and time</a:t>
            </a:r>
            <a:r>
              <a:rPr lang="en-IN" dirty="0"/>
              <a:t> are connected.</a:t>
            </a:r>
          </a:p>
          <a:p>
            <a:r>
              <a:rPr lang="en-IN" dirty="0"/>
              <a:t>And with the simulation, we can actually see these ideas happening instead of only reading about them.</a:t>
            </a:r>
          </a:p>
          <a:p>
            <a:r>
              <a:rPr lang="en-IN" dirty="0"/>
              <a:t>Thank you everyone.</a:t>
            </a:r>
          </a:p>
          <a:p>
            <a:r>
              <a:rPr lang="en-IN" b="1" dirty="0"/>
              <a:t>Any questions?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C6A737-2DBA-4410-AE21-2FF01CF84DBD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342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7DFB7E-53B2-0354-B295-DF236CEB495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4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Pendulum_Simulator_3000_V2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48864" y="1877565"/>
            <a:ext cx="202667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CF56"/>
                </a:solidFill>
              </a:defRPr>
            </a:pPr>
            <a:r>
              <a:rPr lang="en-IN" dirty="0"/>
              <a:t>  </a:t>
            </a:r>
            <a:r>
              <a:rPr dirty="0"/>
              <a:t>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24659" y="1518850"/>
            <a:ext cx="70408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500" b="1">
                <a:solidFill>
                  <a:srgbClr val="63E1FF"/>
                </a:solidFill>
              </a:defRPr>
            </a:pPr>
            <a:r>
              <a:rPr sz="6000" dirty="0"/>
              <a:t>THE</a:t>
            </a:r>
            <a:br>
              <a:rPr sz="6000" dirty="0"/>
            </a:br>
            <a:r>
              <a:rPr sz="6000" dirty="0"/>
              <a:t>PENDULUM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8998" y="3511277"/>
            <a:ext cx="8046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0">
                <a:solidFill>
                  <a:srgbClr val="F4F8FF"/>
                </a:solidFill>
              </a:defRPr>
            </a:pPr>
            <a:r>
              <a:rPr sz="2800" dirty="0"/>
              <a:t>The physics of swinging, gravity, energy &amp;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52274" y="4192111"/>
            <a:ext cx="40925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4DCB8"/>
                </a:solidFill>
              </a:defRPr>
            </a:pPr>
            <a:r>
              <a:rPr sz="2400"/>
              <a:t>7TH GRADE SCIENCE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121" y="6155710"/>
            <a:ext cx="5486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2"/>
                </a:solidFill>
              </a:defRPr>
            </a:pPr>
            <a:r>
              <a:rPr dirty="0"/>
              <a:t>Presented by: </a:t>
            </a:r>
            <a:r>
              <a:rPr lang="en-IN" dirty="0"/>
              <a:t> M Krishna Advith</a:t>
            </a:r>
            <a:endParaRPr dirty="0"/>
          </a:p>
        </p:txBody>
      </p:sp>
      <p:cxnSp>
        <p:nvCxnSpPr>
          <p:cNvPr id="7" name="Connector 6"/>
          <p:cNvCxnSpPr>
            <a:cxnSpLocks/>
          </p:cNvCxnSpPr>
          <p:nvPr/>
        </p:nvCxnSpPr>
        <p:spPr>
          <a:xfrm>
            <a:off x="10071267" y="2466738"/>
            <a:ext cx="940134" cy="1633712"/>
          </a:xfrm>
          <a:prstGeom prst="line">
            <a:avLst/>
          </a:prstGeom>
          <a:ln w="38100">
            <a:solidFill>
              <a:srgbClr val="F4F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8358" y="50749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4DCB8"/>
                </a:solidFill>
              </a:defRPr>
            </a:pPr>
            <a:r>
              <a:t>GRAVITY → MOTION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D4082D-D3F3-3F17-31E7-071E48DE0026}"/>
              </a:ext>
            </a:extLst>
          </p:cNvPr>
          <p:cNvSpPr/>
          <p:nvPr/>
        </p:nvSpPr>
        <p:spPr>
          <a:xfrm>
            <a:off x="9158990" y="2323475"/>
            <a:ext cx="2218544" cy="159897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3EFB3B1-BD9B-6DB8-DF47-1C6EAC1F4D72}"/>
              </a:ext>
            </a:extLst>
          </p:cNvPr>
          <p:cNvSpPr/>
          <p:nvPr/>
        </p:nvSpPr>
        <p:spPr>
          <a:xfrm>
            <a:off x="10897849" y="3985729"/>
            <a:ext cx="479685" cy="437214"/>
          </a:xfrm>
          <a:prstGeom prst="ellipse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347472"/>
            <a:ext cx="73152" cy="566928"/>
          </a:xfrm>
          <a:prstGeom prst="rect">
            <a:avLst/>
          </a:prstGeom>
          <a:solidFill>
            <a:srgbClr val="6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4F8FF"/>
                </a:solidFill>
              </a:defRPr>
            </a:pPr>
            <a:r>
              <a:t>1. What is a pendulum?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1440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B8D2"/>
                </a:solidFill>
              </a:defRPr>
            </a:pPr>
            <a:r>
              <a:t>A simple system that swings around a fixed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A8B8D2"/>
                </a:solidFill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6583680" cy="452628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63E1FF"/>
                </a:solidFill>
              </a:defRPr>
            </a:pPr>
            <a:r>
              <a:t>A pendulum has three main parts: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331720"/>
            <a:ext cx="5989320" cy="841248"/>
          </a:xfrm>
          <a:prstGeom prst="roundRect">
            <a:avLst/>
          </a:prstGeom>
          <a:solidFill>
            <a:srgbClr val="17264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24712" y="247802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4DCB8"/>
                </a:solidFill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441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4F8FF"/>
                </a:solidFill>
              </a:defRPr>
            </a:pPr>
            <a:r>
              <a:t>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44144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2"/>
                </a:solidFill>
              </a:defRPr>
            </a:pPr>
            <a:r>
              <a:t>The fixed point at the top.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310128"/>
            <a:ext cx="5989320" cy="841248"/>
          </a:xfrm>
          <a:prstGeom prst="roundRect">
            <a:avLst/>
          </a:prstGeom>
          <a:solidFill>
            <a:srgbClr val="17264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24712" y="345643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4DCB8"/>
                </a:solidFill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4198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4F8FF"/>
                </a:solidFill>
              </a:defRPr>
            </a:pPr>
            <a:r>
              <a:t>String / 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198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2"/>
                </a:solidFill>
              </a:defRPr>
            </a:pPr>
            <a:r>
              <a:t>Connects the pivot to the bob.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288536"/>
            <a:ext cx="5989320" cy="841248"/>
          </a:xfrm>
          <a:prstGeom prst="roundRect">
            <a:avLst/>
          </a:prstGeom>
          <a:solidFill>
            <a:srgbClr val="17264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24712" y="443484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4DCB8"/>
                </a:solidFill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3982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4F8FF"/>
                </a:solidFill>
              </a:defRPr>
            </a:pPr>
            <a:r>
              <a:t>Bob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39826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2"/>
                </a:solidFill>
              </a:defRPr>
            </a:pPr>
            <a:r>
              <a:t>The weight that swings.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1417320"/>
            <a:ext cx="3840480" cy="4526280"/>
          </a:xfrm>
          <a:prstGeom prst="roundRect">
            <a:avLst/>
          </a:prstGeom>
          <a:solidFill>
            <a:srgbClr val="17264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95360" y="17373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3E1FF"/>
                </a:solidFill>
              </a:defRPr>
            </a:pPr>
            <a:r>
              <a:t>PIVOT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3749039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500" b="1">
                <a:solidFill>
                  <a:srgbClr val="FFCF56"/>
                </a:solidFill>
              </a:defRPr>
            </a:pPr>
            <a:r>
              <a:rPr dirty="0"/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4805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CF56"/>
                </a:solidFill>
              </a:defRPr>
            </a:pPr>
            <a:r>
              <a:t>BOB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17D7669-A531-24EE-8AB1-1939BFE9DCCB}"/>
              </a:ext>
            </a:extLst>
          </p:cNvPr>
          <p:cNvCxnSpPr/>
          <p:nvPr/>
        </p:nvCxnSpPr>
        <p:spPr>
          <a:xfrm>
            <a:off x="9473784" y="2738627"/>
            <a:ext cx="104931" cy="13075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B4B71DC-CAB8-106E-711E-49CAC745A821}"/>
              </a:ext>
            </a:extLst>
          </p:cNvPr>
          <p:cNvSpPr/>
          <p:nvPr/>
        </p:nvSpPr>
        <p:spPr>
          <a:xfrm>
            <a:off x="8595360" y="2715769"/>
            <a:ext cx="1920240" cy="6857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347472"/>
            <a:ext cx="73152" cy="566928"/>
          </a:xfrm>
          <a:prstGeom prst="rect">
            <a:avLst/>
          </a:prstGeom>
          <a:solidFill>
            <a:srgbClr val="6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4F8FF"/>
                </a:solidFill>
              </a:defRPr>
            </a:pPr>
            <a:r>
              <a:t>2. Why does it swing?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1440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B8D2"/>
                </a:solidFill>
              </a:defRPr>
            </a:pPr>
            <a:r>
              <a:t>Gravity pulls the bob toward its lowest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A8B8D2"/>
                </a:solidFill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00200"/>
            <a:ext cx="2788920" cy="333756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63E1FF"/>
                </a:solidFill>
              </a:defRPr>
            </a:pPr>
            <a:r>
              <a:t>PULL ASIDE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74320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4F8FF"/>
                </a:solidFill>
              </a:defRPr>
            </a:pPr>
            <a:r>
              <a:t>Potential energy increases.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600200"/>
            <a:ext cx="2788920" cy="333756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9202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CF56"/>
                </a:solidFill>
              </a:defRPr>
            </a:pPr>
            <a:r>
              <a:t>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4F8FF"/>
                </a:solidFill>
              </a:defRPr>
            </a:pPr>
            <a:r>
              <a:t>Gravity accelerates the bob.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1600200"/>
            <a:ext cx="2788920" cy="333756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0" y="19202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4DCB8"/>
                </a:solidFill>
              </a:defRPr>
            </a:pPr>
            <a:r>
              <a:t>LOWEST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743200"/>
            <a:ext cx="2148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4F8FF"/>
                </a:solidFill>
              </a:defRPr>
            </a:pPr>
            <a:r>
              <a:t>Speed is greatest.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21208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4DCB8"/>
                </a:solidFill>
              </a:defRPr>
            </a:pPr>
            <a:r>
              <a:t>gravity ↓</a:t>
            </a:r>
          </a:p>
        </p:txBody>
      </p:sp>
    </p:spTree>
  </p:cSld>
  <p:clrMapOvr>
    <a:masterClrMapping/>
  </p:clrMapOvr>
  <p:transition spd="slow">
    <p:wheel spokes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347472"/>
            <a:ext cx="73152" cy="566928"/>
          </a:xfrm>
          <a:prstGeom prst="rect">
            <a:avLst/>
          </a:prstGeom>
          <a:solidFill>
            <a:srgbClr val="6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4F8FF"/>
                </a:solidFill>
              </a:defRPr>
            </a:pPr>
            <a:r>
              <a:t>3. One complete oscillation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1440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B8D2"/>
                </a:solidFill>
              </a:defRPr>
            </a:pPr>
            <a:r>
              <a:t>The time from one side → other side → back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A8B8D2"/>
                </a:solidFill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10789920" cy="4251960"/>
          </a:xfrm>
          <a:prstGeom prst="roundRect">
            <a:avLst/>
          </a:prstGeom>
          <a:solidFill>
            <a:srgbClr val="17264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63E1FF"/>
                </a:solidFill>
              </a:defRPr>
            </a:pPr>
            <a:r>
              <a:rPr dirty="0"/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545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3E1FF"/>
                </a:solidFill>
              </a:defRPr>
            </a:pPr>
            <a:r>
              <a:rPr dirty="0"/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4354" y="3383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A8B8D2"/>
                </a:solidFill>
              </a:defRPr>
            </a:pPr>
            <a:r>
              <a:rPr dirty="0"/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0" y="372160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B8D2"/>
                </a:solidFill>
              </a:defRPr>
            </a:pPr>
            <a: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4708" y="3888823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FFCF56"/>
                </a:solidFill>
              </a:defRPr>
            </a:pPr>
            <a:r>
              <a:rPr dirty="0"/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4708" y="416419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CF56"/>
                </a:solidFill>
              </a:defRPr>
            </a:pPr>
            <a: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25062" y="34041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A8B8D2"/>
                </a:solidFill>
              </a:defRPr>
            </a:pPr>
            <a:r>
              <a:rPr dirty="0"/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7566" y="377995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B8D2"/>
                </a:solidFill>
              </a:defRPr>
            </a:pPr>
            <a:r>
              <a:rPr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9156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63E1FF"/>
                </a:solidFill>
              </a:defRPr>
            </a:pPr>
            <a:r>
              <a:rPr dirty="0"/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 flipH="1">
            <a:off x="3281722" y="2261261"/>
            <a:ext cx="14236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3E1FF"/>
                </a:solidFill>
              </a:defRPr>
            </a:pPr>
            <a:r>
              <a:rPr lang="en-IN" dirty="0"/>
              <a:t>E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4114800" y="51663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4F8FF"/>
                </a:solidFill>
              </a:defRPr>
            </a:pPr>
            <a:r>
              <a:t>ONE COMPLETE CYCLE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E0171E-2AB6-CD33-061F-495D0864CE22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4160520" y="2792479"/>
            <a:ext cx="1707661" cy="8578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07C625AD-5A5C-092D-86FB-9A05B3766294}"/>
              </a:ext>
            </a:extLst>
          </p:cNvPr>
          <p:cNvSpPr/>
          <p:nvPr/>
        </p:nvSpPr>
        <p:spPr>
          <a:xfrm>
            <a:off x="4663440" y="2698154"/>
            <a:ext cx="2409481" cy="943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136FAD-DC8D-FC59-0437-664E391147C5}"/>
              </a:ext>
            </a:extLst>
          </p:cNvPr>
          <p:cNvCxnSpPr>
            <a:cxnSpLocks/>
            <a:stCxn id="25" idx="2"/>
            <a:endCxn id="12" idx="0"/>
          </p:cNvCxnSpPr>
          <p:nvPr/>
        </p:nvCxnSpPr>
        <p:spPr>
          <a:xfrm>
            <a:off x="5868181" y="2792479"/>
            <a:ext cx="47987" cy="13717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5D3E5-461C-D5D0-F45B-44DE7D60E9ED}"/>
              </a:ext>
            </a:extLst>
          </p:cNvPr>
          <p:cNvCxnSpPr>
            <a:endCxn id="25" idx="2"/>
          </p:cNvCxnSpPr>
          <p:nvPr/>
        </p:nvCxnSpPr>
        <p:spPr>
          <a:xfrm flipH="1" flipV="1">
            <a:off x="5868181" y="2792479"/>
            <a:ext cx="1767059" cy="8422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A6FB537-8CE0-C06F-12F1-22F7C0A6F307}"/>
              </a:ext>
            </a:extLst>
          </p:cNvPr>
          <p:cNvCxnSpPr>
            <a:stCxn id="25" idx="2"/>
          </p:cNvCxnSpPr>
          <p:nvPr/>
        </p:nvCxnSpPr>
        <p:spPr>
          <a:xfrm flipV="1">
            <a:off x="5868181" y="2261261"/>
            <a:ext cx="2018519" cy="53121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5B0B7ED-4B4A-977E-5DE2-F6943CAE668A}"/>
              </a:ext>
            </a:extLst>
          </p:cNvPr>
          <p:cNvCxnSpPr>
            <a:stCxn id="25" idx="2"/>
          </p:cNvCxnSpPr>
          <p:nvPr/>
        </p:nvCxnSpPr>
        <p:spPr>
          <a:xfrm flipH="1" flipV="1">
            <a:off x="3909060" y="2217420"/>
            <a:ext cx="1959121" cy="5750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4EE508D0-0DE6-A858-6D6E-8BD680957F2D}"/>
              </a:ext>
            </a:extLst>
          </p:cNvPr>
          <p:cNvSpPr/>
          <p:nvPr/>
        </p:nvSpPr>
        <p:spPr>
          <a:xfrm>
            <a:off x="5838508" y="2753118"/>
            <a:ext cx="45719" cy="94325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347472"/>
            <a:ext cx="73152" cy="566928"/>
          </a:xfrm>
          <a:prstGeom prst="rect">
            <a:avLst/>
          </a:prstGeom>
          <a:solidFill>
            <a:srgbClr val="6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4F8FF"/>
                </a:solidFill>
              </a:defRPr>
            </a:pPr>
            <a:r>
              <a:t>4. Time period ⏱️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1440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B8D2"/>
                </a:solidFill>
              </a:defRPr>
            </a:pPr>
            <a:r>
              <a:t>How long does one complete oscillation take?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A8B8D2"/>
                </a:solidFill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10332720" cy="1417320"/>
          </a:xfrm>
          <a:prstGeom prst="roundRect">
            <a:avLst/>
          </a:prstGeom>
          <a:solidFill>
            <a:srgbClr val="17264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920240"/>
            <a:ext cx="9784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63E1FF"/>
                </a:solidFill>
              </a:defRPr>
            </a:pPr>
            <a:r>
              <a:t>TIME PERIOD = TIME FOR ONE COMPLETE 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337560"/>
            <a:ext cx="4800600" cy="201168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365760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CF56"/>
                </a:solidFill>
              </a:defRPr>
            </a:pPr>
            <a:r>
              <a:t>📏 LONGER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251960"/>
            <a:ext cx="4160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F4F8FF"/>
                </a:solidFill>
              </a:defRPr>
            </a:pPr>
            <a:r>
              <a:t>→ longer time period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337560"/>
            <a:ext cx="4800600" cy="201168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20840" y="3657600"/>
            <a:ext cx="4251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54DCB8"/>
                </a:solidFill>
              </a:defRPr>
            </a:pPr>
            <a:r>
              <a:t>🌍 STRONGER 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251960"/>
            <a:ext cx="4251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F4F8FF"/>
                </a:solidFill>
              </a:defRPr>
            </a:pPr>
            <a:r>
              <a:t>→ shorter time period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347472"/>
            <a:ext cx="73152" cy="566928"/>
          </a:xfrm>
          <a:prstGeom prst="rect">
            <a:avLst/>
          </a:prstGeom>
          <a:solidFill>
            <a:srgbClr val="6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4F8FF"/>
                </a:solidFill>
              </a:defRPr>
            </a:pPr>
            <a:r>
              <a:t>5. Energy changes during the swing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1440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B8D2"/>
                </a:solidFill>
              </a:defRPr>
            </a:pPr>
            <a:r>
              <a:t>Potential energy and kinetic energy trade places.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A8B8D2"/>
                </a:solidFill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383280" cy="434340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828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CF56"/>
                </a:solidFill>
              </a:defRPr>
            </a:pPr>
            <a:r>
              <a:t>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F4F8FF"/>
                </a:solidFill>
              </a:defRPr>
            </a:pPr>
            <a:r>
              <a:t>HIGH</a:t>
            </a:r>
            <a:br/>
            <a:r>
              <a:t>POTENTIAL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160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A8B8D2"/>
                </a:solidFill>
              </a:defRPr>
            </a:pPr>
            <a:r>
              <a:t>LOW SPEED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508760"/>
            <a:ext cx="3383280" cy="434340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64608" y="1828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3E1FF"/>
                </a:solidFill>
              </a:defRPr>
            </a:pPr>
            <a:r>
              <a:t>BOTTOM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8" y="260604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F4F8FF"/>
                </a:solidFill>
              </a:defRPr>
            </a:pPr>
            <a:r>
              <a:t>HIGH</a:t>
            </a:r>
            <a:br/>
            <a:r>
              <a:t>KINETIC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4160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A8B8D2"/>
                </a:solidFill>
              </a:defRPr>
            </a:pPr>
            <a:r>
              <a:t>MAXIMUM SPEED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508760"/>
            <a:ext cx="3383280" cy="434340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40496" y="1828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4DCB8"/>
                </a:solidFill>
              </a:defRPr>
            </a:pPr>
            <a:r>
              <a:t>REAL WORLD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260604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F4F8FF"/>
                </a:solidFill>
              </a:defRPr>
            </a:pPr>
            <a:r>
              <a:t>FRICTION + AIR</a:t>
            </a:r>
            <a:br/>
            <a:r>
              <a:t>RESISTANCE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4160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A8B8D2"/>
                </a:solidFill>
              </a:defRPr>
            </a:pPr>
            <a:r>
              <a:t>ENERGY IS LOST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347472"/>
            <a:ext cx="73152" cy="566928"/>
          </a:xfrm>
          <a:prstGeom prst="rect">
            <a:avLst/>
          </a:prstGeom>
          <a:solidFill>
            <a:srgbClr val="6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4F8FF"/>
                </a:solidFill>
              </a:defRPr>
            </a:pPr>
            <a:r>
              <a:t>6. What affects a pendulum?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1440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B8D2"/>
                </a:solidFill>
              </a:defRPr>
            </a:pPr>
            <a:r>
              <a:t>For a simple pendulum with small swings.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A8B8D2"/>
                </a:solidFill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37560" cy="416052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0">
                <a:solidFill>
                  <a:srgbClr val="F4F8FF"/>
                </a:solidFill>
              </a:defRPr>
            </a:pPr>
            <a:r>
              <a:t>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2024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E1FF"/>
                </a:solidFill>
              </a:defRPr>
            </a:pPr>
            <a:r>
              <a:t>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8892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4F8FF"/>
                </a:solidFill>
              </a:defRPr>
            </a:pPr>
            <a:r>
              <a:t>Changes the time period.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519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4DCB8"/>
                </a:solidFill>
              </a:defRPr>
            </a:pPr>
            <a:r>
              <a:t>Longer → slower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600200"/>
            <a:ext cx="3337560" cy="416052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187451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0">
                <a:solidFill>
                  <a:srgbClr val="F4F8FF"/>
                </a:solidFill>
              </a:defRPr>
            </a:pPr>
            <a:r>
              <a:t>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799" y="192024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E1FF"/>
                </a:solidFill>
              </a:defRPr>
            </a:pPr>
            <a:r>
              <a:t>GRAVITY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599" y="278892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4F8FF"/>
                </a:solidFill>
              </a:defRPr>
            </a:pPr>
            <a:r>
              <a:t>Changes the time period.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599" y="42519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4DCB8"/>
                </a:solidFill>
              </a:defRPr>
            </a:pPr>
            <a:r>
              <a:t>Stronger →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600200"/>
            <a:ext cx="3337560" cy="416052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187451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0">
                <a:solidFill>
                  <a:srgbClr val="F4F8FF"/>
                </a:solidFill>
              </a:defRPr>
            </a:pPr>
            <a:r>
              <a:t>⚖️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192024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E1FF"/>
                </a:solidFill>
              </a:defRPr>
            </a:pPr>
            <a:r>
              <a:t>MASS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78892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4F8FF"/>
                </a:solidFill>
              </a:defRPr>
            </a:pPr>
            <a:r>
              <a:t>Does not change the ideal period.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42519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54DCB8"/>
                </a:solidFill>
              </a:defRPr>
            </a:pPr>
            <a:r>
              <a:t>Same period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347472"/>
            <a:ext cx="73152" cy="566928"/>
          </a:xfrm>
          <a:prstGeom prst="rect">
            <a:avLst/>
          </a:prstGeom>
          <a:solidFill>
            <a:srgbClr val="6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4F8FF"/>
                </a:solidFill>
              </a:defRPr>
            </a:pPr>
            <a:r>
              <a:t>7. Pendulums in real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1440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B8D2"/>
                </a:solidFill>
              </a:defRPr>
            </a:pPr>
            <a:r>
              <a:t>The same physics appears in everyday objects.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A8B8D2"/>
                </a:solidFill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00200"/>
            <a:ext cx="4800600" cy="160020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92024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4F8FF"/>
                </a:solidFill>
              </a:defRPr>
            </a:pPr>
            <a:r>
              <a:t>🕰️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3E1FF"/>
                </a:solidFill>
              </a:defRPr>
            </a:pPr>
            <a:r>
              <a:t>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25856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8B8D2"/>
                </a:solidFill>
              </a:defRPr>
            </a:pPr>
            <a:r>
              <a:t>Keeps time using regular oscillations.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4800600" cy="160020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4F8FF"/>
                </a:solidFill>
              </a:defRPr>
            </a:pPr>
            <a:r>
              <a:t>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3E1FF"/>
                </a:solidFill>
              </a:defRPr>
            </a:pPr>
            <a:r>
              <a:t>METRONOME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5856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8B8D2"/>
                </a:solidFill>
              </a:defRPr>
            </a:pPr>
            <a:r>
              <a:t>Helps musicians keep a steady beat.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703320"/>
            <a:ext cx="4800600" cy="160020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023359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4F8FF"/>
                </a:solidFill>
              </a:defRPr>
            </a:pPr>
            <a:r>
              <a:t>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931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3E1FF"/>
                </a:solidFill>
              </a:defRPr>
            </a:pPr>
            <a:r>
              <a:t>SWING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36168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8B8D2"/>
                </a:solidFill>
              </a:defRPr>
            </a:pPr>
            <a:r>
              <a:t>A familiar example of back-and-forth motion.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703320"/>
            <a:ext cx="4800600" cy="160020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4023359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4F8FF"/>
                </a:solidFill>
              </a:defRPr>
            </a:pPr>
            <a:r>
              <a:t>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931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3E1FF"/>
                </a:solidFill>
              </a:defRPr>
            </a:pPr>
            <a:r>
              <a:t>LAB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61688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8B8D2"/>
                </a:solidFill>
              </a:defRPr>
            </a:pPr>
            <a:r>
              <a:t>Used to study motion and gravity.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347472"/>
            <a:ext cx="73152" cy="566928"/>
          </a:xfrm>
          <a:prstGeom prst="rect">
            <a:avLst/>
          </a:prstGeom>
          <a:solidFill>
            <a:srgbClr val="6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4F8FF"/>
                </a:solidFill>
              </a:defRPr>
            </a:pPr>
            <a:r>
              <a:t>8. 🎮 Live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1440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8B8D2"/>
                </a:solidFill>
              </a:defRPr>
            </a:pPr>
            <a:r>
              <a:t>One interactive demonstration to test the ideas.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A8B8D2"/>
                </a:solidFill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486400" cy="4480560"/>
          </a:xfrm>
          <a:prstGeom prst="roundRect">
            <a:avLst/>
          </a:prstGeom>
          <a:solidFill>
            <a:srgbClr val="111C3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3E1FF"/>
                </a:solidFill>
              </a:defRPr>
            </a:pPr>
            <a:r>
              <a:t>HOW TO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4DCB8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3591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4F8FF"/>
                </a:solidFill>
              </a:defRPr>
            </a:pPr>
            <a:r>
              <a:t>Drag the yellow bob.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4DCB8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71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4F8FF"/>
                </a:solidFill>
              </a:defRPr>
            </a:pPr>
            <a:r>
              <a:t>Release it — gravity takes over.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6484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4DCB8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58444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4F8FF"/>
                </a:solidFill>
              </a:defRPr>
            </a:pPr>
            <a:r>
              <a:t>Move faster to give it more initial speed.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2611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4DCB8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19709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4F8FF"/>
                </a:solidFill>
              </a:defRPr>
            </a:pPr>
            <a:r>
              <a:t>Watch the fading dotted trail.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7375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4DCB8"/>
                </a:solidFill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80974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4F8FF"/>
                </a:solidFill>
              </a:defRPr>
            </a:pPr>
            <a:r>
              <a:t>Change the length and compare the period.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6629400" y="2011680"/>
            <a:ext cx="4389120" cy="1234440"/>
          </a:xfrm>
          <a:prstGeom prst="roundRect">
            <a:avLst/>
          </a:prstGeom>
          <a:solidFill>
            <a:srgbClr val="54DCB8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03720" y="2359152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70C18"/>
                </a:solidFill>
              </a:defRPr>
            </a:pPr>
            <a:r>
              <a:rPr dirty="0"/>
              <a:t>🚀 OPEN SIMULATOR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657600"/>
            <a:ext cx="448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B8D2"/>
                </a:solidFill>
              </a:defRPr>
            </a:pPr>
            <a:r>
              <a:t>Keep the PPT + HTML file in the SAME folder.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112645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54DCB8"/>
                </a:solidFill>
              </a:defRPr>
            </a:pPr>
            <a:r>
              <a:rPr dirty="0"/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63E1FF"/>
                </a:solidFill>
              </a:defRPr>
            </a:pPr>
            <a:r>
              <a:t>GRAVITY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1960" y="1828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63E1FF"/>
                </a:solidFill>
              </a:defRPr>
            </a:pPr>
            <a:r>
              <a:t>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828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63E1FF"/>
                </a:solidFill>
              </a:defRPr>
            </a:pPr>
            <a:r>
              <a:t>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8288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CF56"/>
                </a:solidFill>
              </a:defRPr>
            </a:pPr>
            <a: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18288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CF56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3291840"/>
            <a:ext cx="8503920" cy="1234440"/>
          </a:xfrm>
          <a:prstGeom prst="roundRect">
            <a:avLst/>
          </a:prstGeom>
          <a:solidFill>
            <a:srgbClr val="172640"/>
          </a:solidFill>
          <a:ln>
            <a:solidFill>
              <a:srgbClr val="2A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03120" y="356616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4F8FF"/>
                </a:solidFill>
              </a:defRPr>
            </a:pPr>
            <a:r>
              <a:t>A simple pendulum can teach us</a:t>
            </a:r>
            <a:br/>
            <a:r>
              <a:t>about forces, energy and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4983480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FFCF56"/>
                </a:solidFill>
              </a:defRPr>
            </a:pPr>
            <a:r>
              <a:rPr dirty="0"/>
              <a:t>Thank you! ✌️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ea0957e-775b-4ae4-bf7c-da923c6ff8b2}" enabled="1" method="Standard" siteId="{512ec501-cb12-46d1-bbef-7f52f8ad2df8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1192</Words>
  <Application>Microsoft Office PowerPoint</Application>
  <PresentationFormat>Widescreen</PresentationFormat>
  <Paragraphs>191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Sricharan Mamidi</cp:lastModifiedBy>
  <cp:revision>3</cp:revision>
  <dcterms:created xsi:type="dcterms:W3CDTF">2013-01-27T09:14:16Z</dcterms:created>
  <dcterms:modified xsi:type="dcterms:W3CDTF">2026-10-02T11:47:51Z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Internal</vt:lpwstr>
  </property>
</Properties>
</file>